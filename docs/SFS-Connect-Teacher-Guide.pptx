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5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B503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8B6F4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A8803C">
              <a:alpha val="30000"/>
            </a:srgbClr>
          </a:solidFill>
          <a:ln/>
        </p:spPr>
      </p:sp>
      <p:pic>
        <p:nvPicPr>
          <p:cNvPr id="5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77240"/>
            <a:ext cx="1371600" cy="13716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331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6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FRANCIS DE SALES SEC. SCHOOL  ·  LAITKOR, SHILLONG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SFS Connect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6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Portal — A Quick Guide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68680" y="50292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8B6F47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50292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teachers  ·  Launching Session 2026–2027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SFS Connect?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everything you do as a teacher — no more paper registers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SFS Connect is the school's official portal. Everything you used to do on paper — attendance, the class register, marks, homework, notices — now lives in one secure app on your phone or computer.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889504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889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798064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 seconds
</a:t>
            </a:r>
            <a:pPr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your class and your own check-in with one tap.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639312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785616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69417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&amp; homework online
</a:t>
            </a:r>
            <a:pPr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 for your subjects; post homework to students.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535424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68172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681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590288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informed
</a:t>
            </a:r>
            <a:pPr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Notices, schedule and exam dates pushed straight to you.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31536"/>
            <a:ext cx="57607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5577840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5577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5486400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&amp; private
</a:t>
            </a:r>
            <a:pPr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login — you only see your classes and subjects.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7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 · Dashboard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479792" y="2148840"/>
            <a:ext cx="3968496" cy="566928"/>
          </a:xfrm>
          <a:prstGeom prst="roundRect">
            <a:avLst>
              <a:gd name="adj" fmla="val 9677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52944" y="2148840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✅  Self Check-In   —   Tap to mark you're at school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79792" y="2862072"/>
            <a:ext cx="1929384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71232" y="3044952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3" name="Text 30"/>
          <p:cNvSpPr/>
          <p:nvPr/>
        </p:nvSpPr>
        <p:spPr>
          <a:xfrm>
            <a:off x="8028432" y="2916936"/>
            <a:ext cx="1380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028432" y="3264408"/>
            <a:ext cx="1380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Students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9518904" y="2862072"/>
            <a:ext cx="1929384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610344" y="3044952"/>
            <a:ext cx="384048" cy="384048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37" name="Text 34"/>
          <p:cNvSpPr/>
          <p:nvPr/>
        </p:nvSpPr>
        <p:spPr>
          <a:xfrm>
            <a:off x="10067544" y="2916936"/>
            <a:ext cx="1380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10067544" y="3264408"/>
            <a:ext cx="1380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479792" y="3703320"/>
            <a:ext cx="1929384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571232" y="3886200"/>
            <a:ext cx="384048" cy="384048"/>
          </a:xfrm>
          <a:prstGeom prst="ellipse">
            <a:avLst/>
          </a:prstGeom>
          <a:solidFill>
            <a:srgbClr val="A8803C"/>
          </a:solidFill>
          <a:ln/>
        </p:spPr>
      </p:sp>
      <p:sp>
        <p:nvSpPr>
          <p:cNvPr id="41" name="Text 38"/>
          <p:cNvSpPr/>
          <p:nvPr/>
        </p:nvSpPr>
        <p:spPr>
          <a:xfrm>
            <a:off x="8028432" y="3758184"/>
            <a:ext cx="1380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028432" y="4105656"/>
            <a:ext cx="1380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9518904" y="3703320"/>
            <a:ext cx="1929384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610344" y="3886200"/>
            <a:ext cx="384048" cy="384048"/>
          </a:xfrm>
          <a:prstGeom prst="ellipse">
            <a:avLst/>
          </a:prstGeom>
          <a:solidFill>
            <a:srgbClr val="3B6EA5"/>
          </a:solidFill>
          <a:ln/>
        </p:spPr>
      </p:sp>
      <p:sp>
        <p:nvSpPr>
          <p:cNvPr id="45" name="Text 42"/>
          <p:cNvSpPr/>
          <p:nvPr/>
        </p:nvSpPr>
        <p:spPr>
          <a:xfrm>
            <a:off x="10067544" y="3758184"/>
            <a:ext cx="1380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+1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10067544" y="4105656"/>
            <a:ext cx="1380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479792" y="4617720"/>
            <a:ext cx="3968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  Today at a Glance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479792" y="4937760"/>
            <a:ext cx="3968496" cy="384048"/>
          </a:xfrm>
          <a:prstGeom prst="roundRect">
            <a:avLst>
              <a:gd name="adj" fmla="val 14286"/>
            </a:avLst>
          </a:prstGeom>
          <a:solidFill>
            <a:srgbClr val="FBEFD9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52944" y="4937760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Attendance not marked yet for Class X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7479792" y="5394960"/>
            <a:ext cx="3968496" cy="384048"/>
          </a:xfrm>
          <a:prstGeom prst="roundRect">
            <a:avLst>
              <a:gd name="adj" fmla="val 14286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552944" y="5394960"/>
            <a:ext cx="3822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new notices from the office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Login ID and password are given to you by the school 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SFS Connect on your phone (APK) or visit the school website and tap “Login Portal”.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32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377440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Teacher tab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login card, tap the “Teacher” role tab (Student is selected by default).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255264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Login ID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ID given by admin, e.g. SFS/2025/001. Tick “Remember my Login ID” so you don't retype it.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87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133088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password &amp; tap Login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eye icon at the right of the box to reveal your password. Forgot it? Tap “Send reset email”.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65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5010912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temporary password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see a purple banner, your password is temporary — open My Profile and set your own.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16368" y="1344168"/>
            <a:ext cx="4169664" cy="5084064"/>
          </a:xfrm>
          <a:prstGeom prst="roundRect">
            <a:avLst>
              <a:gd name="adj" fmla="val 3509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1417320"/>
            <a:ext cx="4023360" cy="49377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417320"/>
            <a:ext cx="402336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1700784"/>
            <a:ext cx="402336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5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36" y="1527048"/>
            <a:ext cx="347472" cy="347472"/>
          </a:xfrm>
          <a:prstGeom prst="ellipse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156448" y="141732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Portal</a:t>
            </a:r>
            <a:endParaRPr lang="en-US" sz="1250" dirty="0"/>
          </a:p>
        </p:txBody>
      </p:sp>
      <p:pic>
        <p:nvPicPr>
          <p:cNvPr id="27" name="Image 1" descr="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194560"/>
            <a:ext cx="731520" cy="731520"/>
          </a:xfrm>
          <a:prstGeom prst="ellipse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754112" y="2971800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Francis De Sales Sec. School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7781544" y="33832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2E9D8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754112" y="3383280"/>
            <a:ext cx="92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8705088" y="33832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8677656" y="3383280"/>
            <a:ext cx="92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9628632" y="33832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2E9D8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601200" y="3383280"/>
            <a:ext cx="92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10552176" y="338328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F2E9D8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0524744" y="3383280"/>
            <a:ext cx="923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7754112" y="3931920"/>
            <a:ext cx="3694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ID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7754112" y="4178808"/>
            <a:ext cx="3694176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827264" y="4178808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SFS/2025/001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7754112" y="4690872"/>
            <a:ext cx="3694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7754112" y="4937760"/>
            <a:ext cx="3694176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827264" y="4937760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••••••••                              👁</a:t>
            </a:r>
            <a:endParaRPr lang="en-US" sz="950" dirty="0"/>
          </a:p>
        </p:txBody>
      </p:sp>
      <p:sp>
        <p:nvSpPr>
          <p:cNvPr id="43" name="Text 39"/>
          <p:cNvSpPr/>
          <p:nvPr/>
        </p:nvSpPr>
        <p:spPr>
          <a:xfrm>
            <a:off x="7754112" y="5458968"/>
            <a:ext cx="3694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Remember my Login ID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7754112" y="5806440"/>
            <a:ext cx="3694176" cy="457200"/>
          </a:xfrm>
          <a:prstGeom prst="roundRect">
            <a:avLst>
              <a:gd name="adj" fmla="val 14000"/>
            </a:avLst>
          </a:prstGeom>
          <a:solidFill>
            <a:srgbClr val="8B6F47"/>
          </a:solidFill>
          <a:ln/>
        </p:spPr>
      </p:sp>
      <p:sp>
        <p:nvSpPr>
          <p:cNvPr id="45" name="Text 41"/>
          <p:cNvSpPr/>
          <p:nvPr/>
        </p:nvSpPr>
        <p:spPr>
          <a:xfrm>
            <a:off x="7754112" y="5806440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 — your day at a glance, every time you log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499616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 card (top)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once when you reach school to record your own attendance (GPS-tagged).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3230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377440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 cards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Students, My Class, Homeworks Posted, and your Subject(s) — your numbers at a glance.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255264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at a Glance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chips tell you if class attendance is still pending and any new homework.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87952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879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133088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Schedule &amp; Notices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periods for today and the latest notices from the office, side by side.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065776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0657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5010912"/>
            <a:ext cx="546811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menu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left menu (☰ on mobile) to jump to any section: Students, Attendance, Marks and more.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5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79792" y="2148840"/>
            <a:ext cx="1234440" cy="4041648"/>
          </a:xfrm>
          <a:prstGeom prst="roundRect">
            <a:avLst>
              <a:gd name="adj" fmla="val 4444"/>
            </a:avLst>
          </a:prstGeom>
          <a:solidFill>
            <a:srgbClr val="F4ECDC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34656" y="2221992"/>
            <a:ext cx="1124712" cy="329184"/>
          </a:xfrm>
          <a:prstGeom prst="roundRect">
            <a:avLst>
              <a:gd name="adj" fmla="val 11111"/>
            </a:avLst>
          </a:prstGeom>
          <a:solidFill>
            <a:srgbClr val="8B6F47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22219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 Dashboard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589520" y="25877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Students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589520" y="29535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Attendance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589520" y="33192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🕑 Schedule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589520" y="36850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Homework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589520" y="40507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Notices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589520" y="44165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Exams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589520" y="478231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Leave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589520" y="51480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Subjects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589520" y="551383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Profile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8851392" y="2148840"/>
            <a:ext cx="2596896" cy="502920"/>
          </a:xfrm>
          <a:prstGeom prst="roundRect">
            <a:avLst>
              <a:gd name="adj" fmla="val 10909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924544" y="214884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✅  Self Check-In   ·   You're at school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851392" y="2788920"/>
            <a:ext cx="1252728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24544" y="2825496"/>
            <a:ext cx="1152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8924544" y="315468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Students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0195560" y="2788920"/>
            <a:ext cx="1252728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268712" y="2825496"/>
            <a:ext cx="1152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0268712" y="3154680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851392" y="3502152"/>
            <a:ext cx="1252728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24544" y="3538728"/>
            <a:ext cx="1152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8924544" y="3867912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0195560" y="3502152"/>
            <a:ext cx="1252728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268712" y="3538728"/>
            <a:ext cx="11521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10268712" y="3867912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8851392" y="4288536"/>
            <a:ext cx="259689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924544" y="4288536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📅 Today's Schedule — 5 periods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8851392" y="4709160"/>
            <a:ext cx="2596896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924544" y="47091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📢 Recent Notices — 2 new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Marking Attendance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class register — plus your own GPS check-in — done in seconds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Self Check-In on the Dashboard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arrive at school, tap it once. The app records the time and your location automatically.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50545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Attendance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side menu, tap “Attendance”. Today's date is selected for you.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46557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student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Present or Absent beside each name. The totals update live at the top.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80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42569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Save to record the register. You can re-open and edit it the same day if needed.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Class X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79792" y="2148840"/>
            <a:ext cx="3968496" cy="457200"/>
          </a:xfrm>
          <a:prstGeom prst="roundRect">
            <a:avLst>
              <a:gd name="adj" fmla="val 12000"/>
            </a:avLst>
          </a:prstGeom>
          <a:solidFill>
            <a:srgbClr val="6B5030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52944" y="214884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🗓  Today  ·  Present 38   Absent 4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479792" y="2743200"/>
            <a:ext cx="39684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89520" y="274320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Aiborlang K.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848088" y="285292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3E8E5A"/>
          </a:solidFill>
          <a:ln/>
        </p:spPr>
      </p:sp>
      <p:sp>
        <p:nvSpPr>
          <p:cNvPr id="29" name="Text 26"/>
          <p:cNvSpPr/>
          <p:nvPr/>
        </p:nvSpPr>
        <p:spPr>
          <a:xfrm>
            <a:off x="9848088" y="28529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0625328" y="285292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F2E9D8"/>
          </a:solidFill>
          <a:ln/>
        </p:spPr>
      </p:sp>
      <p:sp>
        <p:nvSpPr>
          <p:cNvPr id="31" name="Text 28"/>
          <p:cNvSpPr/>
          <p:nvPr/>
        </p:nvSpPr>
        <p:spPr>
          <a:xfrm>
            <a:off x="10625328" y="285292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479792" y="3383280"/>
            <a:ext cx="39684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589520" y="338328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Banri L.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848088" y="349300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3E8E5A"/>
          </a:solidFill>
          <a:ln/>
        </p:spPr>
      </p:sp>
      <p:sp>
        <p:nvSpPr>
          <p:cNvPr id="35" name="Text 32"/>
          <p:cNvSpPr/>
          <p:nvPr/>
        </p:nvSpPr>
        <p:spPr>
          <a:xfrm>
            <a:off x="9848088" y="349300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10625328" y="349300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F2E9D8"/>
          </a:solidFill>
          <a:ln/>
        </p:spPr>
      </p:sp>
      <p:sp>
        <p:nvSpPr>
          <p:cNvPr id="37" name="Text 34"/>
          <p:cNvSpPr/>
          <p:nvPr/>
        </p:nvSpPr>
        <p:spPr>
          <a:xfrm>
            <a:off x="10625328" y="349300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479792" y="4023360"/>
            <a:ext cx="39684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89520" y="402336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Chenkhu M.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848088" y="413308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3E8E5A"/>
          </a:solidFill>
          <a:ln/>
        </p:spPr>
      </p:sp>
      <p:sp>
        <p:nvSpPr>
          <p:cNvPr id="41" name="Text 38"/>
          <p:cNvSpPr/>
          <p:nvPr/>
        </p:nvSpPr>
        <p:spPr>
          <a:xfrm>
            <a:off x="9848088" y="41330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0625328" y="413308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F2E9D8"/>
          </a:solidFill>
          <a:ln/>
        </p:spPr>
      </p:sp>
      <p:sp>
        <p:nvSpPr>
          <p:cNvPr id="43" name="Text 40"/>
          <p:cNvSpPr/>
          <p:nvPr/>
        </p:nvSpPr>
        <p:spPr>
          <a:xfrm>
            <a:off x="10625328" y="413308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7479792" y="4663440"/>
            <a:ext cx="39684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6350">
            <a:solidFill>
              <a:srgbClr val="E4D8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589520" y="4663440"/>
            <a:ext cx="22311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Daphishisha N.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9848088" y="477316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2E9D8"/>
          </a:solidFill>
          <a:ln/>
        </p:spPr>
      </p:sp>
      <p:sp>
        <p:nvSpPr>
          <p:cNvPr id="47" name="Text 44"/>
          <p:cNvSpPr/>
          <p:nvPr/>
        </p:nvSpPr>
        <p:spPr>
          <a:xfrm>
            <a:off x="9848088" y="4773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10625328" y="4773168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B5524E"/>
          </a:solidFill>
          <a:ln/>
        </p:spPr>
      </p:sp>
      <p:sp>
        <p:nvSpPr>
          <p:cNvPr id="49" name="Text 46"/>
          <p:cNvSpPr/>
          <p:nvPr/>
        </p:nvSpPr>
        <p:spPr>
          <a:xfrm>
            <a:off x="10625328" y="477316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7479792" y="5687568"/>
            <a:ext cx="3968496" cy="457200"/>
          </a:xfrm>
          <a:prstGeom prst="roundRect">
            <a:avLst>
              <a:gd name="adj" fmla="val 12000"/>
            </a:avLst>
          </a:prstGeom>
          <a:solidFill>
            <a:srgbClr val="8B6F47"/>
          </a:solidFill>
          <a:ln/>
        </p:spPr>
      </p:sp>
      <p:sp>
        <p:nvSpPr>
          <p:cNvPr id="51" name="Text 48"/>
          <p:cNvSpPr/>
          <p:nvPr/>
        </p:nvSpPr>
        <p:spPr>
          <a:xfrm>
            <a:off x="7479792" y="5687568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 Attendance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Students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class list, search, and export it whenever you need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Students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“Students” in the side menu to see the full list for your class.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50545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student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🔍 search box to find a student instantly by name.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46557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shows roll number, name, gender, blood group and a WhatsApp contact.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80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42569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“Export CSV” to download the list for printing or your own records.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Class X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79792" y="2148840"/>
            <a:ext cx="2619207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52944" y="2148840"/>
            <a:ext cx="247290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🔍  Search student…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10178369" y="2148840"/>
            <a:ext cx="1269919" cy="411480"/>
          </a:xfrm>
          <a:prstGeom prst="roundRect">
            <a:avLst>
              <a:gd name="adj" fmla="val 11111"/>
            </a:avLst>
          </a:prstGeom>
          <a:solidFill>
            <a:srgbClr val="8B6F47"/>
          </a:solidFill>
          <a:ln/>
        </p:spPr>
      </p:sp>
      <p:sp>
        <p:nvSpPr>
          <p:cNvPr id="27" name="Text 24"/>
          <p:cNvSpPr/>
          <p:nvPr/>
        </p:nvSpPr>
        <p:spPr>
          <a:xfrm>
            <a:off x="10178369" y="2148840"/>
            <a:ext cx="126991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CSV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479792" y="2697480"/>
            <a:ext cx="3968496" cy="365760"/>
          </a:xfrm>
          <a:prstGeom prst="rect">
            <a:avLst/>
          </a:prstGeom>
          <a:solidFill>
            <a:srgbClr val="6B5030"/>
          </a:solidFill>
          <a:ln/>
        </p:spPr>
      </p:sp>
      <p:sp>
        <p:nvSpPr>
          <p:cNvPr id="29" name="Text 26"/>
          <p:cNvSpPr/>
          <p:nvPr/>
        </p:nvSpPr>
        <p:spPr>
          <a:xfrm>
            <a:off x="7534656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991856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003536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643616" y="26974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479792" y="3063240"/>
            <a:ext cx="3968496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34656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991856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Aiborlang K.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0003536" y="3063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10643616" y="3063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479792" y="3520440"/>
            <a:ext cx="3968496" cy="457200"/>
          </a:xfrm>
          <a:prstGeom prst="rect">
            <a:avLst/>
          </a:prstGeom>
          <a:solidFill>
            <a:srgbClr val="FBF7F0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34656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991856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Banri L.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0003536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10643616" y="35204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O+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7479792" y="3977640"/>
            <a:ext cx="3968496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34656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991856" y="3977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Chenkhu M.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0003536" y="3977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0643616" y="3977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7479792" y="4434840"/>
            <a:ext cx="3968496" cy="457200"/>
          </a:xfrm>
          <a:prstGeom prst="rect">
            <a:avLst/>
          </a:prstGeom>
          <a:solidFill>
            <a:srgbClr val="FBF7F0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534656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7991856" y="4434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Daphi N.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10003536" y="4434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10643616" y="4434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AB+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479792" y="4892040"/>
            <a:ext cx="3968496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534656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7991856" y="4892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Evanlin P.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10003536" y="4892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10643616" y="4892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7479792" y="5349240"/>
            <a:ext cx="3968496" cy="457200"/>
          </a:xfrm>
          <a:prstGeom prst="rect">
            <a:avLst/>
          </a:prstGeom>
          <a:solidFill>
            <a:srgbClr val="FBF7F0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534656" y="5349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7991856" y="5349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Ferdinand R.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10003536" y="5349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10643616" y="5349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B+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Schedule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timetable for the day and the week, always up to date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Schedule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“My Schedule” in the side menu, or “Full →” on the dashboard schedule card.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50545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today's periods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period shows the time, class and subject you are teaching.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46557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days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across the week to plan ahead — the timetable is set by the school admin.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19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Schedule · Today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79792" y="2148840"/>
            <a:ext cx="39684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571232" y="2267712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23" name="Text 20"/>
          <p:cNvSpPr/>
          <p:nvPr/>
        </p:nvSpPr>
        <p:spPr>
          <a:xfrm>
            <a:off x="7571232" y="226771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577072" y="2148840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Class X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479792" y="2862072"/>
            <a:ext cx="39684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571232" y="2980944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27" name="Text 24"/>
          <p:cNvSpPr/>
          <p:nvPr/>
        </p:nvSpPr>
        <p:spPr>
          <a:xfrm>
            <a:off x="7571232" y="298094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8:45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577072" y="2862072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Class IX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479792" y="3575304"/>
            <a:ext cx="39684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71232" y="3694176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D6C3A3"/>
          </a:solidFill>
          <a:ln/>
        </p:spPr>
      </p:sp>
      <p:sp>
        <p:nvSpPr>
          <p:cNvPr id="31" name="Text 28"/>
          <p:cNvSpPr/>
          <p:nvPr/>
        </p:nvSpPr>
        <p:spPr>
          <a:xfrm>
            <a:off x="7571232" y="3694176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577072" y="3575304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Period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479792" y="4288536"/>
            <a:ext cx="39684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71232" y="4407408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35" name="Text 32"/>
          <p:cNvSpPr/>
          <p:nvPr/>
        </p:nvSpPr>
        <p:spPr>
          <a:xfrm>
            <a:off x="7571232" y="440740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577072" y="4288536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Class X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479792" y="5001768"/>
            <a:ext cx="39684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71232" y="512064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39" name="Text 36"/>
          <p:cNvSpPr/>
          <p:nvPr/>
        </p:nvSpPr>
        <p:spPr>
          <a:xfrm>
            <a:off x="7571232" y="512064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577072" y="5001768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 · Class VIII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479792" y="5715000"/>
            <a:ext cx="3968496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71232" y="5833872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3B6EA5"/>
          </a:solidFill>
          <a:ln/>
        </p:spPr>
      </p:sp>
      <p:sp>
        <p:nvSpPr>
          <p:cNvPr id="43" name="Text 40"/>
          <p:cNvSpPr/>
          <p:nvPr/>
        </p:nvSpPr>
        <p:spPr>
          <a:xfrm>
            <a:off x="7571232" y="583387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11:45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8577072" y="5715000"/>
            <a:ext cx="277977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Duty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homework to your class — students and parents see it instantly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Homework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“Homework” in the side menu.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50545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homework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class and subject, type the task and set a due date.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46557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it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Post — it appears for students right away and counts on your dashboard.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80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42569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what you posted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recent homework and edit or remove any item.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79792" y="2148840"/>
            <a:ext cx="3968496" cy="457200"/>
          </a:xfrm>
          <a:prstGeom prst="roundRect">
            <a:avLst>
              <a:gd name="adj" fmla="val 12000"/>
            </a:avLst>
          </a:prstGeom>
          <a:solidFill>
            <a:srgbClr val="8B6F47"/>
          </a:solidFill>
          <a:ln/>
        </p:spPr>
      </p:sp>
      <p:sp>
        <p:nvSpPr>
          <p:cNvPr id="25" name="Text 22"/>
          <p:cNvSpPr/>
          <p:nvPr/>
        </p:nvSpPr>
        <p:spPr>
          <a:xfrm>
            <a:off x="7479792" y="2148840"/>
            <a:ext cx="3968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 New Homework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479792" y="2788920"/>
            <a:ext cx="39684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07808" y="286207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X · Maths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607808" y="313639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5.2, Q1–10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607808" y="339242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80960" y="339242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Due Tomorrow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79792" y="3840480"/>
            <a:ext cx="39684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07808" y="391363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IX · Maths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607808" y="418795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Chapter 4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607808" y="444398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680960" y="444398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Due Fri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479792" y="4892040"/>
            <a:ext cx="396849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E4D8C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607808" y="496519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VIII · Maths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607808" y="523951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on fractions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607808" y="5495544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680960" y="5495544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Due Mon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Subjects &amp; Entering Marks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 for the exact subjects the admin assigned to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54533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Subjects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“My Subjects”. You'll see every class–subject the admin assigned to you.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50545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row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shows Class, Subject and Term (Half-Yearly / Final).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346557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“Enter Marks →”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opens the mark-entry sheet for that class and subject, pre-filled for you.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420624" cy="420624"/>
          </a:xfrm>
          <a:prstGeom prst="ellipse">
            <a:avLst/>
          </a:prstGeom>
          <a:solidFill>
            <a:srgbClr val="8B6F47"/>
          </a:solidFill>
          <a:ln w="12700">
            <a:solidFill>
              <a:srgbClr val="A880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805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425696"/>
            <a:ext cx="54681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teachers: Review &amp; Lock
</a:t>
            </a:r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a class teacher, use “Review &amp; Lock Records” once all marks are in.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242048" y="1344168"/>
            <a:ext cx="4443984" cy="5084064"/>
          </a:xfrm>
          <a:prstGeom prst="roundRect">
            <a:avLst>
              <a:gd name="adj" fmla="val 3292"/>
            </a:avLst>
          </a:prstGeom>
          <a:solidFill>
            <a:srgbClr val="6B5030"/>
          </a:solidFill>
          <a:ln/>
          <a:effectLst>
            <a:outerShdw sx="100000" sy="100000" kx="0" ky="0" algn="bl" rotWithShape="0" blurRad="114300" dist="38100" dir="16200000">
              <a:srgbClr val="B8A98C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0" y="1417320"/>
            <a:ext cx="4297680" cy="49377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417320"/>
            <a:ext cx="4297680" cy="566928"/>
          </a:xfrm>
          <a:prstGeom prst="roundRect">
            <a:avLst>
              <a:gd name="adj" fmla="val 19355"/>
            </a:avLst>
          </a:prstGeom>
          <a:solidFill>
            <a:srgbClr val="6B503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00784"/>
            <a:ext cx="4297680" cy="283464"/>
          </a:xfrm>
          <a:prstGeom prst="rect">
            <a:avLst/>
          </a:prstGeom>
          <a:solidFill>
            <a:srgbClr val="6B5030"/>
          </a:solidFill>
          <a:ln/>
        </p:spPr>
      </p:sp>
      <p:pic>
        <p:nvPicPr>
          <p:cNvPr id="22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3216" y="1527048"/>
            <a:ext cx="347472" cy="347472"/>
          </a:xfrm>
          <a:prstGeom prst="ellipse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882128" y="14173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Subjects · 2026–2027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479792" y="2148840"/>
            <a:ext cx="3968496" cy="457200"/>
          </a:xfrm>
          <a:prstGeom prst="roundRect">
            <a:avLst>
              <a:gd name="adj" fmla="val 12000"/>
            </a:avLst>
          </a:prstGeom>
          <a:solidFill>
            <a:srgbClr val="F2E9D8"/>
          </a:solidFill>
          <a:ln w="9525">
            <a:solidFill>
              <a:srgbClr val="E4D8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52944" y="214884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MY CLASS:  Class X   ·   Review &amp; Lock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479792" y="2752344"/>
            <a:ext cx="3968496" cy="365760"/>
          </a:xfrm>
          <a:prstGeom prst="rect">
            <a:avLst/>
          </a:prstGeom>
          <a:solidFill>
            <a:srgbClr val="6B5030"/>
          </a:solidFill>
          <a:ln/>
        </p:spPr>
      </p:sp>
      <p:sp>
        <p:nvSpPr>
          <p:cNvPr id="27" name="Text 24"/>
          <p:cNvSpPr/>
          <p:nvPr/>
        </p:nvSpPr>
        <p:spPr>
          <a:xfrm>
            <a:off x="7534656" y="275234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174736" y="275234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9500616" y="275234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0396728" y="275234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479792" y="3118104"/>
            <a:ext cx="396849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34656" y="3118104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174736" y="3118104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500616" y="3118104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0396728" y="3310128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36" name="Text 33"/>
          <p:cNvSpPr/>
          <p:nvPr/>
        </p:nvSpPr>
        <p:spPr>
          <a:xfrm>
            <a:off x="10396728" y="331012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479792" y="3867912"/>
            <a:ext cx="3968496" cy="749808"/>
          </a:xfrm>
          <a:prstGeom prst="rect">
            <a:avLst/>
          </a:prstGeom>
          <a:solidFill>
            <a:srgbClr val="FBF7F0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534656" y="3867912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174736" y="3867912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9500616" y="3867912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10396728" y="4059936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42" name="Text 39"/>
          <p:cNvSpPr/>
          <p:nvPr/>
        </p:nvSpPr>
        <p:spPr>
          <a:xfrm>
            <a:off x="10396728" y="405993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479792" y="4617720"/>
            <a:ext cx="3968496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4D8C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534656" y="461772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VIII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174736" y="4617720"/>
            <a:ext cx="1325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9500616" y="4617720"/>
            <a:ext cx="685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10396728" y="4809744"/>
            <a:ext cx="1051560" cy="365760"/>
          </a:xfrm>
          <a:prstGeom prst="roundRect">
            <a:avLst>
              <a:gd name="adj" fmla="val 12500"/>
            </a:avLst>
          </a:prstGeom>
          <a:solidFill>
            <a:srgbClr val="8B6F47"/>
          </a:solidFill>
          <a:ln/>
        </p:spPr>
      </p:sp>
      <p:sp>
        <p:nvSpPr>
          <p:cNvPr id="48" name="Text 45"/>
          <p:cNvSpPr/>
          <p:nvPr/>
        </p:nvSpPr>
        <p:spPr>
          <a:xfrm>
            <a:off x="10396728" y="480974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Informed: Notices &amp; Exams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places to never miss school news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3127248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1" name="Text 9"/>
          <p:cNvSpPr/>
          <p:nvPr/>
        </p:nvSpPr>
        <p:spPr>
          <a:xfrm>
            <a:off x="1261872" y="30632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“Notices” to read every announcement from the office.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3840480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872" y="37764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notices also appear on your Dashboard.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4553712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448970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notices arrive as a phone notification.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5266944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7" name="Text 15"/>
          <p:cNvSpPr/>
          <p:nvPr/>
        </p:nvSpPr>
        <p:spPr>
          <a:xfrm>
            <a:off x="1261872" y="520293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notice to read the full message and any details.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1920240"/>
            <a:ext cx="822960" cy="82296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68096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720840" y="3127248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3" name="Text 21"/>
          <p:cNvSpPr/>
          <p:nvPr/>
        </p:nvSpPr>
        <p:spPr>
          <a:xfrm>
            <a:off x="7022592" y="306324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“Exams” to see the exam schedule set by the school.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3840480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5" name="Text 23"/>
          <p:cNvSpPr/>
          <p:nvPr/>
        </p:nvSpPr>
        <p:spPr>
          <a:xfrm>
            <a:off x="7022592" y="3776472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dates, subjects and timings for each exam.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4553712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7" name="Text 25"/>
          <p:cNvSpPr/>
          <p:nvPr/>
        </p:nvSpPr>
        <p:spPr>
          <a:xfrm>
            <a:off x="7022592" y="4489704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syllabus and revision around these dates.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5266944"/>
            <a:ext cx="146304" cy="146304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9" name="Text 27"/>
          <p:cNvSpPr/>
          <p:nvPr/>
        </p:nvSpPr>
        <p:spPr>
          <a:xfrm>
            <a:off x="7022592" y="5202936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exams, enter marks from “My Subjects”.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&amp; My Profile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 and keep your account secure — all in the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for Leave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32688" y="3063240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302666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Leave
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“Leave” in the side menu.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3840480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380390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request
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dates and write your reason.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2688" y="4617720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458114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
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admin reviews and approves it in the app.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920240"/>
            <a:ext cx="822960" cy="822960"/>
          </a:xfrm>
          <a:prstGeom prst="ellipse">
            <a:avLst/>
          </a:prstGeom>
          <a:solidFill>
            <a:srgbClr val="F2E9D8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680960" y="1965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Profile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693408" y="3063240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4" name="Text 22"/>
          <p:cNvSpPr/>
          <p:nvPr/>
        </p:nvSpPr>
        <p:spPr>
          <a:xfrm>
            <a:off x="6693408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02666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My Profile
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name, contact and details.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93408" y="3840480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23760" y="380390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password
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any temporary password with your own.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93408" y="4617720"/>
            <a:ext cx="384048" cy="38404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0" name="Text 28"/>
          <p:cNvSpPr/>
          <p:nvPr/>
        </p:nvSpPr>
        <p:spPr>
          <a:xfrm>
            <a:off x="6693408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0" y="458114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private
</a:t>
            </a:r>
            <a:pPr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your Login ID or password.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School 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quick habits — that's all SFS Connect asks of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2468880"/>
            <a:ext cx="777240" cy="777240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Self Check-In on your dashboard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42032" y="2194560"/>
            <a:ext cx="31089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F47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34640" y="219456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468880"/>
            <a:ext cx="777240" cy="777240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926080" y="3383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period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38862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Attendance and mark your class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28032" y="2194560"/>
            <a:ext cx="31089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F47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20640" y="219456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2468880"/>
            <a:ext cx="777240" cy="777240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212080" y="3383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During the 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38862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homework; check your schedule &amp; notices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14032" y="2194560"/>
            <a:ext cx="31089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F47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406640" y="219456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2468880"/>
            <a:ext cx="777240" cy="777240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498080" y="3383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season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89520" y="38862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 from My Subjects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400032" y="2194560"/>
            <a:ext cx="310896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6F47"/>
                </a:solidFill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92640" y="2194560"/>
            <a:ext cx="2057400" cy="292608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32720" y="2468880"/>
            <a:ext cx="777240" cy="777240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272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784080" y="3383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Anytime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75520" y="388620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 or update your profile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8B6F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Getting Help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25296" y="950976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smooth start — and who to call if you're stuck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Do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once and tick “Remember my Login ID”.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3558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early in the day so totals are correct.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19709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1970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work — tap Save after marking or entering marks.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038344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503834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location &amp; notifications when the app asks (for check-in &amp; alerts).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60020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5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 Avoid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83680" y="25146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your Login ID or password with anyone.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081528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30815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worry if a feature says “coming soon” — rollout is in phases.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64845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0" y="36484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use another teacher's login — you'll only see their classes.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5262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6B503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709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help?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83680" y="512064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Tap “Forgot password → Send reset email” to reset your password.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login or account issues, contact the School Office / Admin.
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the app updated for the latest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B5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754880" cy="4754880"/>
          </a:xfrm>
          <a:prstGeom prst="ellipse">
            <a:avLst/>
          </a:prstGeom>
          <a:solidFill>
            <a:srgbClr val="8B6F47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023360"/>
            <a:ext cx="4572000" cy="4572000"/>
          </a:xfrm>
          <a:prstGeom prst="ellipse">
            <a:avLst/>
          </a:prstGeom>
          <a:solidFill>
            <a:srgbClr val="A8803C">
              <a:alpha val="30000"/>
            </a:srgbClr>
          </a:solidFill>
          <a:ln/>
        </p:spPr>
      </p:sp>
      <p:pic>
        <p:nvPicPr>
          <p:cNvPr id="4" name="Image 0" descr="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005840"/>
            <a:ext cx="1371600" cy="137160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 SFS Connect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914400" y="3611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6C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paperwork. More teaching.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041648" y="45720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8B6F47"/>
          </a:solidFill>
          <a:ln/>
        </p:spPr>
      </p:sp>
      <p:sp>
        <p:nvSpPr>
          <p:cNvPr id="8" name="Text 5"/>
          <p:cNvSpPr/>
          <p:nvPr/>
        </p:nvSpPr>
        <p:spPr>
          <a:xfrm>
            <a:off x="4041648" y="45720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Launching Session 2026–2027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C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Francis De Sales Secondary School  ·  Laitkor, Shillong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SFS Connect — Teacher Portal Guide</dc:title>
  <dc:subject>PptxGenJS Presentation</dc:subject>
  <dc:creator>SFS Connect</dc:creator>
  <cp:lastModifiedBy>SFS Connect</cp:lastModifiedBy>
  <cp:revision>1</cp:revision>
  <dcterms:created xsi:type="dcterms:W3CDTF">2026-06-26T06:14:45Z</dcterms:created>
  <dcterms:modified xsi:type="dcterms:W3CDTF">2026-06-26T06:14:45Z</dcterms:modified>
</cp:coreProperties>
</file>